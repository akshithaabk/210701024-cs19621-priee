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78" r:id="rId6"/>
    <p:sldId id="276" r:id="rId7"/>
    <p:sldId id="279" r:id="rId8"/>
    <p:sldId id="280" r:id="rId9"/>
    <p:sldId id="281" r:id="rId10"/>
    <p:sldId id="282" r:id="rId11"/>
  </p:sldIdLst>
  <p:sldSz cx="9144000" cy="6858000" type="screen4x3"/>
  <p:notesSz cx="6858000" cy="9144000"/>
  <p:embeddedFontLst>
    <p:embeddedFont>
      <p:font typeface="Calibri" panose="020F0502020204030204" pitchFamily="34" charset="0"/>
      <p:regular r:id="rId13"/>
      <p:bold r:id="rId14"/>
      <p:italic r:id="rId15"/>
      <p:boldItalic r:id="rId16"/>
    </p:embeddedFont>
    <p:embeddedFont>
      <p:font typeface="Open Sans ExtraBold" panose="020B0604020202020204" charset="0"/>
      <p:bold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shithaa BK Akshithaa BK" initials="AA" lastIdx="2" clrIdx="0">
    <p:extLst>
      <p:ext uri="{19B8F6BF-5375-455C-9EA6-DF929625EA0E}">
        <p15:presenceInfo xmlns:p15="http://schemas.microsoft.com/office/powerpoint/2012/main" userId="c3f7547876b24a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2" d="100"/>
          <a:sy n="62" d="100"/>
        </p:scale>
        <p:origin x="2050" y="7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6716"/>
            <a:chOff x="-14748" y="986564"/>
            <a:chExt cx="9158748" cy="5456716"/>
          </a:xfrm>
        </p:grpSpPr>
        <p:sp>
          <p:nvSpPr>
            <p:cNvPr id="90" name="Google Shape;90;p13"/>
            <p:cNvSpPr txBox="1"/>
            <p:nvPr/>
          </p:nvSpPr>
          <p:spPr>
            <a:xfrm>
              <a:off x="177781" y="4812105"/>
              <a:ext cx="4322209"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210701006 – </a:t>
              </a:r>
              <a:r>
                <a:rPr lang="en-IN" sz="2000" b="1" i="0" u="none" strike="noStrike" cap="none" dirty="0" err="1">
                  <a:solidFill>
                    <a:schemeClr val="dk1"/>
                  </a:solidFill>
                  <a:latin typeface="Calibri"/>
                  <a:ea typeface="Calibri"/>
                  <a:cs typeface="Calibri"/>
                  <a:sym typeface="Calibri"/>
                </a:rPr>
                <a:t>Aathmihan</a:t>
              </a:r>
              <a:r>
                <a:rPr lang="en-IN" sz="2000" b="1" i="0" u="none" strike="noStrike" cap="none" dirty="0">
                  <a:solidFill>
                    <a:schemeClr val="dk1"/>
                  </a:solidFill>
                  <a:latin typeface="Calibri"/>
                  <a:ea typeface="Calibri"/>
                  <a:cs typeface="Calibri"/>
                  <a:sym typeface="Calibri"/>
                </a:rPr>
                <a:t> S B</a:t>
              </a:r>
            </a:p>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210701024 – Akshithaa B K</a:t>
              </a:r>
              <a:endParaRPr dirty="0"/>
            </a:p>
            <a:p>
              <a:pPr marL="0" marR="0" lvl="0" indent="0" algn="l" rtl="0">
                <a:spcBef>
                  <a:spcPts val="0"/>
                </a:spcBef>
                <a:spcAft>
                  <a:spcPts val="0"/>
                </a:spcAft>
                <a:buNone/>
              </a:pPr>
              <a:r>
                <a:rPr lang="en-IN" sz="2000" b="1" dirty="0" err="1">
                  <a:solidFill>
                    <a:schemeClr val="dk1"/>
                  </a:solidFill>
                  <a:latin typeface="Calibri"/>
                  <a:ea typeface="Calibri" panose="020F0502020204030204" pitchFamily="34" charset="0"/>
                  <a:cs typeface="Calibri"/>
                  <a:sym typeface="Calibri"/>
                </a:rPr>
                <a:t>Dr.T.Kumaragurubaran</a:t>
              </a:r>
              <a:endParaRPr lang="en-IN" sz="2000" b="1" dirty="0">
                <a:solidFill>
                  <a:schemeClr val="dk1"/>
                </a:solidFill>
                <a:latin typeface="Calibri"/>
                <a:ea typeface="Calibri" panose="020F0502020204030204" pitchFamily="34" charset="0"/>
                <a:cs typeface="Calibri"/>
                <a:sym typeface="Calibri"/>
              </a:endParaRPr>
            </a:p>
            <a:p>
              <a:pPr marL="0" marR="0" lvl="0" indent="0" algn="l" rtl="0">
                <a:spcBef>
                  <a:spcPts val="0"/>
                </a:spcBef>
                <a:spcAft>
                  <a:spcPts val="0"/>
                </a:spcAft>
                <a:buNone/>
              </a:pPr>
              <a:r>
                <a:rPr lang="en-IN" sz="2000" b="1" dirty="0">
                  <a:solidFill>
                    <a:schemeClr val="dk1"/>
                  </a:solidFill>
                  <a:effectLst/>
                  <a:latin typeface="Calibri"/>
                  <a:ea typeface="Calibri" panose="020F0502020204030204" pitchFamily="34" charset="0"/>
                  <a:cs typeface="Calibri"/>
                  <a:sym typeface="Calibri"/>
                </a:rPr>
                <a:t>Computer Science and Engineering Department - REC</a:t>
              </a: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041756"/>
                  <a:ext cx="4181886" cy="101562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dirty="0">
                      <a:solidFill>
                        <a:schemeClr val="lt1"/>
                      </a:solidFill>
                      <a:latin typeface="Calibri"/>
                      <a:ea typeface="Calibri"/>
                      <a:cs typeface="Calibri"/>
                      <a:sym typeface="Calibri"/>
                    </a:rPr>
                    <a:t>Professional Readiness for Innovation, Employability and Entrepreneurship</a:t>
                  </a:r>
                  <a:endParaRPr dirty="0"/>
                </a:p>
              </p:txBody>
            </p:sp>
          </p:grpSp>
          <p:sp>
            <p:nvSpPr>
              <p:cNvPr id="97" name="Google Shape;97;p13"/>
              <p:cNvSpPr txBox="1"/>
              <p:nvPr/>
            </p:nvSpPr>
            <p:spPr>
              <a:xfrm>
                <a:off x="177781" y="2100903"/>
                <a:ext cx="4960275"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lt1"/>
                    </a:solidFill>
                    <a:latin typeface="Calibri"/>
                    <a:ea typeface="Calibri"/>
                    <a:cs typeface="Calibri"/>
                    <a:sym typeface="Calibri"/>
                  </a:rPr>
                  <a:t>GOVERNMENT SCHEMES CHATBOT</a:t>
                </a:r>
                <a:endParaRPr sz="4800" dirty="0"/>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6725512" y="4812105"/>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t>Abstract</a:t>
            </a:r>
            <a:endParaRPr sz="5400" b="1" dirty="0">
              <a:latin typeface="Calibri"/>
              <a:ea typeface="Calibri"/>
              <a:cs typeface="Calibri"/>
              <a:sym typeface="Calibri"/>
            </a:endParaRPr>
          </a:p>
        </p:txBody>
      </p:sp>
      <p:sp>
        <p:nvSpPr>
          <p:cNvPr id="106" name="Google Shape;106;p14"/>
          <p:cNvSpPr txBox="1">
            <a:spLocks noGrp="1"/>
          </p:cNvSpPr>
          <p:nvPr>
            <p:ph type="body" idx="1"/>
          </p:nvPr>
        </p:nvSpPr>
        <p:spPr>
          <a:xfrm>
            <a:off x="190500" y="1055914"/>
            <a:ext cx="8763000" cy="53340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a:spcBef>
                <a:spcPts val="0"/>
              </a:spcBef>
              <a:buNone/>
            </a:pPr>
            <a:r>
              <a:rPr lang="en-US" sz="2800" dirty="0"/>
              <a:t>This project presents a chatbot designed to assist people in Tamil Nadu with information on government schemes. Utilizing the </a:t>
            </a:r>
            <a:r>
              <a:rPr lang="en-US" sz="2800" dirty="0" err="1"/>
              <a:t>PyTorch</a:t>
            </a:r>
            <a:r>
              <a:rPr lang="en-US" sz="2800" dirty="0"/>
              <a:t> library, the chatbot is powered by neural networks featuring a feedforward layer architecture. The system is optimized to deliver accurate, timely recommendations tailored to the user's specific eligibility and needs. By leveraging natural language processing and machine learning techniques, the chatbot can understand user queries and provide personalized guidance. The primary objective is to bridge the information gap, ensuring that underserved communities have easy access to vital resources and opportunities provided by the government. </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latin typeface="Calibri"/>
                <a:ea typeface="Calibri"/>
                <a:cs typeface="Calibri"/>
                <a:sym typeface="Calibri"/>
              </a:rPr>
              <a:t>Existing System</a:t>
            </a:r>
            <a:endParaRPr sz="5400" b="1" dirty="0">
              <a:latin typeface="Calibri"/>
              <a:ea typeface="Calibri"/>
              <a:cs typeface="Calibri"/>
              <a:sym typeface="Calibri"/>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just">
              <a:spcBef>
                <a:spcPts val="0"/>
              </a:spcBef>
            </a:pPr>
            <a:r>
              <a:rPr lang="en-IN" dirty="0"/>
              <a:t>The existing system </a:t>
            </a:r>
            <a:r>
              <a:rPr lang="en-US" dirty="0"/>
              <a:t>for recommending government schemes often include various web-based platforms and mobile applications designed to disseminate information about government benefits and services.</a:t>
            </a:r>
            <a:endParaRPr lang="en-IN" dirty="0"/>
          </a:p>
          <a:p>
            <a:pPr marL="342900" lvl="0" indent="-342900" algn="just">
              <a:spcBef>
                <a:spcPts val="0"/>
              </a:spcBef>
            </a:pPr>
            <a:r>
              <a:rPr lang="en-US" dirty="0"/>
              <a:t> Some of the examples include Government portals like </a:t>
            </a:r>
            <a:r>
              <a:rPr lang="en-US" dirty="0" err="1"/>
              <a:t>TNeGA</a:t>
            </a:r>
            <a:r>
              <a:rPr lang="en-US" dirty="0"/>
              <a:t>, Mobile applications like UMANG, Helpline centers like e-</a:t>
            </a:r>
            <a:r>
              <a:rPr lang="en-US" dirty="0" err="1"/>
              <a:t>sevai</a:t>
            </a:r>
            <a:r>
              <a:rPr lang="en-US" dirty="0"/>
              <a:t> </a:t>
            </a:r>
            <a:r>
              <a:rPr lang="en-US" dirty="0" err="1"/>
              <a:t>maiyam</a:t>
            </a:r>
            <a:r>
              <a:rPr lang="en-US" dirty="0"/>
              <a:t> and some NGO initiatives are also taken.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t>Proposed System</a:t>
            </a:r>
            <a:endParaRPr sz="5400" b="1" dirty="0">
              <a:latin typeface="Calibri"/>
              <a:ea typeface="Calibri"/>
              <a:cs typeface="Calibri"/>
              <a:sym typeface="Calibri"/>
            </a:endParaRPr>
          </a:p>
        </p:txBody>
      </p:sp>
      <p:sp>
        <p:nvSpPr>
          <p:cNvPr id="120" name="Google Shape;120;p1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342900" algn="just">
              <a:spcBef>
                <a:spcPts val="0"/>
              </a:spcBef>
            </a:pPr>
            <a:r>
              <a:rPr lang="en-US" dirty="0"/>
              <a:t>The existing systems may face challenge like limited reach in rural areas.</a:t>
            </a:r>
          </a:p>
          <a:p>
            <a:pPr marL="342900" indent="-342900" algn="just">
              <a:spcBef>
                <a:spcPts val="0"/>
              </a:spcBef>
            </a:pPr>
            <a:r>
              <a:rPr lang="en-US" dirty="0"/>
              <a:t> The proposed chatbot aims to address the gap by providing a user-friendly, accessible platform that uses advanced AI and machine learning techniques.</a:t>
            </a:r>
          </a:p>
          <a:p>
            <a:pPr marL="342900" indent="-342900" algn="just">
              <a:spcBef>
                <a:spcPts val="0"/>
              </a:spcBef>
            </a:pPr>
            <a:r>
              <a:rPr lang="en-US" dirty="0"/>
              <a:t>The key components and functionalities of the proposed system include User Interaction, Neural Network Architecture, NLP, Scheme Database, Personalized Recommendations.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EEA6-04DC-4E23-AEF5-4A6F0A9FF57F}"/>
              </a:ext>
            </a:extLst>
          </p:cNvPr>
          <p:cNvSpPr>
            <a:spLocks noGrp="1"/>
          </p:cNvSpPr>
          <p:nvPr>
            <p:ph type="title"/>
          </p:nvPr>
        </p:nvSpPr>
        <p:spPr/>
        <p:txBody>
          <a:bodyPr>
            <a:noAutofit/>
          </a:bodyPr>
          <a:lstStyle/>
          <a:p>
            <a:r>
              <a:rPr lang="en-US" sz="5400" b="1" dirty="0"/>
              <a:t>Architecture Diagram</a:t>
            </a:r>
            <a:endParaRPr lang="en-IN" sz="5400" b="1" dirty="0"/>
          </a:p>
        </p:txBody>
      </p:sp>
      <p:pic>
        <p:nvPicPr>
          <p:cNvPr id="5" name="Picture 4">
            <a:extLst>
              <a:ext uri="{FF2B5EF4-FFF2-40B4-BE49-F238E27FC236}">
                <a16:creationId xmlns:a16="http://schemas.microsoft.com/office/drawing/2014/main" id="{51B9D2B8-656C-4739-8966-D97F8432FD23}"/>
              </a:ext>
            </a:extLst>
          </p:cNvPr>
          <p:cNvPicPr>
            <a:picLocks noChangeAspect="1"/>
          </p:cNvPicPr>
          <p:nvPr/>
        </p:nvPicPr>
        <p:blipFill>
          <a:blip r:embed="rId2"/>
          <a:stretch>
            <a:fillRect/>
          </a:stretch>
        </p:blipFill>
        <p:spPr>
          <a:xfrm>
            <a:off x="0" y="914400"/>
            <a:ext cx="9144000" cy="5212163"/>
          </a:xfrm>
          <a:prstGeom prst="rect">
            <a:avLst/>
          </a:prstGeom>
        </p:spPr>
      </p:pic>
    </p:spTree>
    <p:extLst>
      <p:ext uri="{BB962C8B-B14F-4D97-AF65-F5344CB8AC3E}">
        <p14:creationId xmlns:p14="http://schemas.microsoft.com/office/powerpoint/2010/main" val="857516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9F3F-40CD-3200-F84E-173D34A7F1A8}"/>
              </a:ext>
            </a:extLst>
          </p:cNvPr>
          <p:cNvSpPr>
            <a:spLocks noGrp="1"/>
          </p:cNvSpPr>
          <p:nvPr>
            <p:ph type="title"/>
          </p:nvPr>
        </p:nvSpPr>
        <p:spPr/>
        <p:txBody>
          <a:bodyPr>
            <a:noAutofit/>
          </a:bodyPr>
          <a:lstStyle/>
          <a:p>
            <a:r>
              <a:rPr lang="en-US" sz="5400" b="1" dirty="0"/>
              <a:t>P</a:t>
            </a:r>
            <a:r>
              <a:rPr lang="en-IN" sz="5400" b="1" dirty="0" err="1"/>
              <a:t>roject</a:t>
            </a:r>
            <a:r>
              <a:rPr lang="en-IN" sz="5400" b="1" dirty="0"/>
              <a:t> Modules</a:t>
            </a:r>
          </a:p>
        </p:txBody>
      </p:sp>
      <p:sp>
        <p:nvSpPr>
          <p:cNvPr id="3" name="Text Placeholder 2">
            <a:extLst>
              <a:ext uri="{FF2B5EF4-FFF2-40B4-BE49-F238E27FC236}">
                <a16:creationId xmlns:a16="http://schemas.microsoft.com/office/drawing/2014/main" id="{F869BB9B-BE99-4E88-EE30-E62CBF1A6894}"/>
              </a:ext>
            </a:extLst>
          </p:cNvPr>
          <p:cNvSpPr>
            <a:spLocks noGrp="1"/>
          </p:cNvSpPr>
          <p:nvPr>
            <p:ph type="body" idx="1"/>
          </p:nvPr>
        </p:nvSpPr>
        <p:spPr/>
        <p:txBody>
          <a:bodyPr/>
          <a:lstStyle/>
          <a:p>
            <a:pPr marL="76200" indent="0">
              <a:buNone/>
            </a:pPr>
            <a:r>
              <a:rPr lang="en-IN" dirty="0"/>
              <a:t>Training Module :</a:t>
            </a:r>
          </a:p>
          <a:p>
            <a:pPr marL="76200" indent="0" algn="just">
              <a:buNone/>
            </a:pPr>
            <a:r>
              <a:rPr lang="en-US" dirty="0"/>
              <a:t>	The training module teaches the chatbot to understand and respond to questions. First, it collects data about Tamil Nadu government schemes and user queries. This data is cleaned and prepared for training. Using </a:t>
            </a:r>
            <a:r>
              <a:rPr lang="en-US" dirty="0" err="1"/>
              <a:t>PyTorch</a:t>
            </a:r>
            <a:r>
              <a:rPr lang="en-US" dirty="0"/>
              <a:t>, a feedforward neural network is set up with input, hidden, and output layers. The model learns by comparing its answers to correct ones and adjusting until it improves. It is then tested with new data to ensure accuracy. </a:t>
            </a:r>
            <a:endParaRPr lang="en-IN" dirty="0"/>
          </a:p>
          <a:p>
            <a:endParaRPr lang="en-IN" dirty="0"/>
          </a:p>
        </p:txBody>
      </p:sp>
    </p:spTree>
    <p:extLst>
      <p:ext uri="{BB962C8B-B14F-4D97-AF65-F5344CB8AC3E}">
        <p14:creationId xmlns:p14="http://schemas.microsoft.com/office/powerpoint/2010/main" val="523771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E24F-43E7-4DF6-8CCC-588170227902}"/>
              </a:ext>
            </a:extLst>
          </p:cNvPr>
          <p:cNvSpPr>
            <a:spLocks noGrp="1"/>
          </p:cNvSpPr>
          <p:nvPr>
            <p:ph type="title"/>
          </p:nvPr>
        </p:nvSpPr>
        <p:spPr/>
        <p:txBody>
          <a:bodyPr>
            <a:noAutofit/>
          </a:bodyPr>
          <a:lstStyle/>
          <a:p>
            <a:r>
              <a:rPr lang="en-US" sz="5400" b="1" dirty="0"/>
              <a:t>Project Modules</a:t>
            </a:r>
            <a:endParaRPr lang="en-IN" sz="5400" b="1" dirty="0"/>
          </a:p>
        </p:txBody>
      </p:sp>
      <p:sp>
        <p:nvSpPr>
          <p:cNvPr id="3" name="Text Placeholder 2">
            <a:extLst>
              <a:ext uri="{FF2B5EF4-FFF2-40B4-BE49-F238E27FC236}">
                <a16:creationId xmlns:a16="http://schemas.microsoft.com/office/drawing/2014/main" id="{B2BE51B8-D4C1-45DE-A709-66034A30853D}"/>
              </a:ext>
            </a:extLst>
          </p:cNvPr>
          <p:cNvSpPr>
            <a:spLocks noGrp="1"/>
          </p:cNvSpPr>
          <p:nvPr>
            <p:ph type="body" idx="1"/>
          </p:nvPr>
        </p:nvSpPr>
        <p:spPr/>
        <p:txBody>
          <a:bodyPr/>
          <a:lstStyle/>
          <a:p>
            <a:pPr marL="76200" indent="0">
              <a:buNone/>
            </a:pPr>
            <a:r>
              <a:rPr lang="en-IN" dirty="0"/>
              <a:t>Chat Module :</a:t>
            </a:r>
          </a:p>
          <a:p>
            <a:pPr marL="76200" indent="0" algn="just">
              <a:buNone/>
            </a:pPr>
            <a:r>
              <a:rPr lang="en-US" dirty="0"/>
              <a:t>	The chat module is where users interact with the chatbot. It captures user queries through text inputs and processes them. The trained neural network understands the questions and generates relevant answers by retrieving information from a database of government schemes. It personalizes responses based on the user's background and previous interactions. This module ensures users get accurate, easy-to-understand guidance on government schemes.</a:t>
            </a:r>
            <a:endParaRPr lang="en-IN" dirty="0"/>
          </a:p>
        </p:txBody>
      </p:sp>
    </p:spTree>
    <p:extLst>
      <p:ext uri="{BB962C8B-B14F-4D97-AF65-F5344CB8AC3E}">
        <p14:creationId xmlns:p14="http://schemas.microsoft.com/office/powerpoint/2010/main" val="2798268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E21E-91D1-4A68-B4CA-93B41D6652FB}"/>
              </a:ext>
            </a:extLst>
          </p:cNvPr>
          <p:cNvSpPr>
            <a:spLocks noGrp="1"/>
          </p:cNvSpPr>
          <p:nvPr>
            <p:ph type="title"/>
          </p:nvPr>
        </p:nvSpPr>
        <p:spPr/>
        <p:txBody>
          <a:bodyPr>
            <a:noAutofit/>
          </a:bodyPr>
          <a:lstStyle/>
          <a:p>
            <a:r>
              <a:rPr lang="en-US" sz="5400" b="1" dirty="0"/>
              <a:t>Output</a:t>
            </a:r>
            <a:endParaRPr lang="en-IN" sz="5400" b="1" dirty="0"/>
          </a:p>
        </p:txBody>
      </p:sp>
      <p:pic>
        <p:nvPicPr>
          <p:cNvPr id="5" name="Picture 4">
            <a:extLst>
              <a:ext uri="{FF2B5EF4-FFF2-40B4-BE49-F238E27FC236}">
                <a16:creationId xmlns:a16="http://schemas.microsoft.com/office/drawing/2014/main" id="{5834493C-C252-4278-9CA6-2D39B316715E}"/>
              </a:ext>
            </a:extLst>
          </p:cNvPr>
          <p:cNvPicPr>
            <a:picLocks noChangeAspect="1"/>
          </p:cNvPicPr>
          <p:nvPr/>
        </p:nvPicPr>
        <p:blipFill>
          <a:blip r:embed="rId2"/>
          <a:stretch>
            <a:fillRect/>
          </a:stretch>
        </p:blipFill>
        <p:spPr>
          <a:xfrm>
            <a:off x="237744" y="1417659"/>
            <a:ext cx="8668512" cy="4339674"/>
          </a:xfrm>
          <a:prstGeom prst="rect">
            <a:avLst/>
          </a:prstGeom>
        </p:spPr>
      </p:pic>
    </p:spTree>
    <p:extLst>
      <p:ext uri="{BB962C8B-B14F-4D97-AF65-F5344CB8AC3E}">
        <p14:creationId xmlns:p14="http://schemas.microsoft.com/office/powerpoint/2010/main" val="1117154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D59D2-F0BD-4E32-A5C4-EFA704A94E2B}"/>
              </a:ext>
            </a:extLst>
          </p:cNvPr>
          <p:cNvSpPr>
            <a:spLocks noGrp="1"/>
          </p:cNvSpPr>
          <p:nvPr>
            <p:ph type="title"/>
          </p:nvPr>
        </p:nvSpPr>
        <p:spPr/>
        <p:txBody>
          <a:bodyPr>
            <a:noAutofit/>
          </a:bodyPr>
          <a:lstStyle/>
          <a:p>
            <a:r>
              <a:rPr lang="en-US" sz="5400" b="1" dirty="0"/>
              <a:t>Future Enhancements</a:t>
            </a:r>
            <a:endParaRPr lang="en-IN" sz="5400" b="1" dirty="0"/>
          </a:p>
        </p:txBody>
      </p:sp>
      <p:sp>
        <p:nvSpPr>
          <p:cNvPr id="3" name="Text Placeholder 2">
            <a:extLst>
              <a:ext uri="{FF2B5EF4-FFF2-40B4-BE49-F238E27FC236}">
                <a16:creationId xmlns:a16="http://schemas.microsoft.com/office/drawing/2014/main" id="{73BF7E39-BC46-4CAE-AC58-E340E6C7D6DD}"/>
              </a:ext>
            </a:extLst>
          </p:cNvPr>
          <p:cNvSpPr>
            <a:spLocks noGrp="1"/>
          </p:cNvSpPr>
          <p:nvPr>
            <p:ph type="body" idx="1"/>
          </p:nvPr>
        </p:nvSpPr>
        <p:spPr/>
        <p:txBody>
          <a:bodyPr/>
          <a:lstStyle/>
          <a:p>
            <a:r>
              <a:rPr lang="en-US" dirty="0"/>
              <a:t>Our  chatbot can further be enhanced by adding some of the features like </a:t>
            </a:r>
          </a:p>
          <a:p>
            <a:r>
              <a:rPr lang="en-US" dirty="0"/>
              <a:t>Inbuilt voice assistant.</a:t>
            </a:r>
          </a:p>
          <a:p>
            <a:r>
              <a:rPr lang="en-US" dirty="0"/>
              <a:t>Multi Language support.</a:t>
            </a:r>
          </a:p>
          <a:p>
            <a:r>
              <a:rPr lang="en-US" dirty="0"/>
              <a:t>integrating with </a:t>
            </a:r>
            <a:r>
              <a:rPr lang="en-US" dirty="0" err="1"/>
              <a:t>chatgpt</a:t>
            </a:r>
            <a:r>
              <a:rPr lang="en-US" dirty="0"/>
              <a:t>.</a:t>
            </a:r>
          </a:p>
          <a:p>
            <a:endParaRPr lang="en-IN" dirty="0"/>
          </a:p>
        </p:txBody>
      </p:sp>
    </p:spTree>
    <p:extLst>
      <p:ext uri="{BB962C8B-B14F-4D97-AF65-F5344CB8AC3E}">
        <p14:creationId xmlns:p14="http://schemas.microsoft.com/office/powerpoint/2010/main" val="3314673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9;p32">
            <a:extLst>
              <a:ext uri="{FF2B5EF4-FFF2-40B4-BE49-F238E27FC236}">
                <a16:creationId xmlns:a16="http://schemas.microsoft.com/office/drawing/2014/main" id="{0B701D15-4639-43A0-82F1-97A979A79D5B}"/>
              </a:ext>
            </a:extLst>
          </p:cNvPr>
          <p:cNvSpPr/>
          <p:nvPr/>
        </p:nvSpPr>
        <p:spPr>
          <a:xfrm>
            <a:off x="1447279" y="2333362"/>
            <a:ext cx="624944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b="1" dirty="0">
                <a:solidFill>
                  <a:schemeClr val="dk1"/>
                </a:solidFill>
                <a:latin typeface="Calibri"/>
                <a:ea typeface="Calibri"/>
                <a:cs typeface="Calibri"/>
                <a:sym typeface="Calibri"/>
              </a:rPr>
              <a:t>Thank You</a:t>
            </a:r>
            <a:endParaRPr b="1" dirty="0"/>
          </a:p>
        </p:txBody>
      </p:sp>
    </p:spTree>
    <p:extLst>
      <p:ext uri="{BB962C8B-B14F-4D97-AF65-F5344CB8AC3E}">
        <p14:creationId xmlns:p14="http://schemas.microsoft.com/office/powerpoint/2010/main" val="271361600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456</Words>
  <Application>Microsoft Office PowerPoint</Application>
  <PresentationFormat>On-screen Show (4:3)</PresentationFormat>
  <Paragraphs>32</Paragraphs>
  <Slides>10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Arial</vt:lpstr>
      <vt:lpstr>Noto Sans Symbols</vt:lpstr>
      <vt:lpstr>Open Sans ExtraBold</vt:lpstr>
      <vt:lpstr>Office Theme</vt:lpstr>
      <vt:lpstr>PowerPoint Presentation</vt:lpstr>
      <vt:lpstr>Abstract</vt:lpstr>
      <vt:lpstr>Existing System</vt:lpstr>
      <vt:lpstr>Proposed System</vt:lpstr>
      <vt:lpstr>Architecture Diagram</vt:lpstr>
      <vt:lpstr>Project Modules</vt:lpstr>
      <vt:lpstr>Project Modules</vt:lpstr>
      <vt:lpstr>Output</vt:lpstr>
      <vt:lpstr>Future Enhancements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Akshithaa BK Akshithaa BK</dc:creator>
  <cp:lastModifiedBy>Aathmihan Balasubramanian</cp:lastModifiedBy>
  <cp:revision>23</cp:revision>
  <dcterms:modified xsi:type="dcterms:W3CDTF">2024-05-19T17:48:05Z</dcterms:modified>
</cp:coreProperties>
</file>